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業務改善システム構築の、次廣です。5ヶ月経った今の本音から先に言います。「もっと早く参加しておけばよかった」。4年間誘われても一度も行かなかった自分が、なぜそう思うようになったのか——今日はその話を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直に言うと、4年間、誘われても一度も行きませんでした。ビジター参加すらしなかった。毎週2時間も出たら仕事する時間がなくなる、自分に紹介なんて出せない、入って本当に仕事につながるのか。そう思って、ずっと見送っていました。今日ビジターで来られている方も、同じことを考えているかもしれません。僕も、まったく同じ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年間断り続けて、2026年3月に、初めてビジターとして参加しました。そこで見たのは、自分を売り込む場ではありませんでした。メンバーが、ある一人の仕事を本気で理解して、「その相手なら、あの人をつなげられる」と真剣に考えている。仲間のために、こんなに本気で動くのか、と驚きました。その場で、入会を決めました——一度見たら、迷う理由がなくなったという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会した最初の1か月は、13のトレーニングを一気に受け、1to1も詰め込みました。ものすごく仕事をした気になって、普通に疲れました（笑）。ただ、トレーニングを通じて、BNIは、名刺を配って仕事を待つ場所ではないと分かってきました——失敗談を笑いにつなげつつ、BNIの本質への最初の気づきを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レーニングで学び、25秒で試し、1to1で反応を聞く。それを毎週続けたことで、自分の仕事の言い方が変わりました。以前は「AIで業務改善」と言っていました。今は「Excelがもう限界」「同じ入力を何回もしている」「あの人がいないと分からない」、そういう現場の困りごとの言葉で伝えています。仕組みの説明ではなく、自分の伝え方が具体的になった、という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毎週のトレーニングと1to1で、相手の仕事を知って、自分の仕事を伝え直す。この練習は、BNIの中だけの話ではありませんでした。普段の商談や提案でも、相手の困りごとから話すようになりました。1to1は100回を超え、売上も昨年に比べて2倍を超えています。ただ、これはBNI経由の仕事だけの数字ではありません。BNI以外の仕事も含めた全体の数字です。BNIに入れば売上が2倍になる、という話ではなく、伝え方が変わったことが仕事全体に効いた、という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番うれしかったのは、何度も誘ってくれたあの方の事業を、自分の仕事で支えられたことです。取扱店が200社を超えて、本部の業務がもう限界でした。申込みのフォーム、集計の表計算、顧客の情報、紙の控えが、それぞれ別の場所にありました。それを一つにまとめました。注文も、顧客も、取扱店も、売上も、同じ場所で見られるようにしました。結果、確認の手間が4分の1以下になりました。人を増やさずに、500社規模まで対応できる見通しです。誘ってくれた人に、自分の仕事で返せた——これが5ヶ月で一番うれしかったことです。※増本さんのお名前と商品名は口頭で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が、私の5ヶ月のシェアストーリーです。正直な今の気持ちは、もっと早く参加しておけばよかった、というものです。4年間、誘われても行かなかった自分がそう思っています。今日は、何かを決めていただく日ではありません。もし少しでも気になることがあれば、隣にいるメンバーに率直に聞いてみてください。それだけで十分だと思っています。AI業務改善システム構築の、次廣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、チャプターで重点的に募集しているカテゴリーです。建設業、動画制作、SNS運用代行、WEBマーケティング。この4つに当てはまる方、あるいはお知り合いにいらっしゃる方がいれば、ぜひ教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00756a633dc34135546ecffa22dcbefb.png">    </p:cNvPr>
          <p:cNvPicPr>
            <a:picLocks noChangeAspect="1"/>
          </p:cNvPicPr>
          <p:nvPr/>
        </p:nvPicPr>
        <p:blipFill>
          <a:blip r:embed="rId2"/>
          <a:srcRect l="-68" r="-68" t="0" b="0"/>
          <a:stretch/>
        </p:blipFill>
        <p:spPr>
          <a:xfrm>
            <a:off x="1524305" y="3448202"/>
            <a:ext cx="1333195" cy="4754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24305" y="1314907"/>
            <a:ext cx="6667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AI業務改善システム構築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524305" y="2095805"/>
            <a:ext cx="857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次廣 淳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0" y="4000500"/>
            <a:ext cx="18288000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もっと早く参加しておけばよかった！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0" y="5572354"/>
            <a:ext cx="182880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入会から5ヶ月で変わった、仕事への向き合い方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7d36ee9751fd7eff4dccba3580dec6e6.jpg">    </p:cNvPr>
          <p:cNvPicPr>
            <a:picLocks noChangeAspect="1"/>
          </p:cNvPicPr>
          <p:nvPr/>
        </p:nvPicPr>
        <p:blipFill>
          <a:blip r:embed="rId2"/>
          <a:srcRect l="0" r="0" t="-36" b="-36"/>
          <a:stretch/>
        </p:blipFill>
        <p:spPr>
          <a:xfrm>
            <a:off x="10287000" y="2667305"/>
            <a:ext cx="6858000" cy="51242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24305" y="2381098"/>
            <a:ext cx="8382305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4年間、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69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一度も行かなかった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524305" y="4953305"/>
            <a:ext cx="8382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7A80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時間？ 紹介？ 成果？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00756a633dc34135546ecffa22dcbefb.png">    </p:cNvPr>
          <p:cNvPicPr>
            <a:picLocks noChangeAspect="1"/>
          </p:cNvPicPr>
          <p:nvPr/>
        </p:nvPicPr>
        <p:blipFill>
          <a:blip r:embed="rId2"/>
          <a:srcRect l="-68" r="-68" t="0" b="0"/>
          <a:stretch/>
        </p:blipFill>
        <p:spPr>
          <a:xfrm>
            <a:off x="1524305" y="5048402"/>
            <a:ext cx="1333195" cy="47549"/>
          </a:xfrm>
          <a:prstGeom prst="rect">
            <a:avLst/>
          </a:prstGeom>
        </p:spPr>
      </p:pic>
      <p:pic>
        <p:nvPicPr>
          <p:cNvPr id="5" name="Image 2" descr="gen-dedup-1c475fb6c25f5a47df42b33ead23ed07.jp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8382305" y="2619756"/>
            <a:ext cx="8382305" cy="4733849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24305" y="2857500"/>
            <a:ext cx="62865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一度見て、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入会を決めた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1524305" y="5524805"/>
            <a:ext cx="62865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本気で、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仲間のために。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f356d2224c2fb74932b7f14e565b6aa2.jpg">    </p:cNvPr>
          <p:cNvPicPr>
            <a:picLocks noChangeAspect="1"/>
          </p:cNvPicPr>
          <p:nvPr/>
        </p:nvPicPr>
        <p:blipFill>
          <a:blip r:embed="rId2"/>
          <a:srcRect l="-41" r="-41" t="0" b="0"/>
          <a:stretch/>
        </p:blipFill>
        <p:spPr>
          <a:xfrm>
            <a:off x="10287000" y="2562149"/>
            <a:ext cx="6858000" cy="51627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24305" y="3047695"/>
            <a:ext cx="83823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最初から、やりすぎた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524305" y="4381805"/>
            <a:ext cx="83823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13講座 ＋ 1to1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1524305" y="6096305"/>
            <a:ext cx="8382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7A80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普通に疲れました（笑）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ab050204080848f088768e908a8fab83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1524305" y="3952951"/>
            <a:ext cx="4953305" cy="33339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24305" y="1143000"/>
            <a:ext cx="154305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伝え方が、</a:t>
            </a:r>
            <a:pPr algn="l" indent="0" marL="0">
              <a:buNone/>
            </a:pPr>
            <a:r>
              <a:rPr lang="en-US" sz="5700" b="1" dirty="0">
                <a:solidFill>
                  <a:srgbClr val="149C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具体的になった</a:t>
            </a:r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524305" y="2266798"/>
            <a:ext cx="1543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7A80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トレーニング → 25秒 → 1to1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1524305" y="3191256"/>
            <a:ext cx="1543507" cy="523951"/>
          </a:xfrm>
          <a:prstGeom prst="roundRect">
            <a:avLst>
              <a:gd name="adj" fmla="val 14485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524305" y="3191256"/>
            <a:ext cx="1543507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88900" rIns="215900" bIns="88900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spc="195" kern="0" dirty="0">
                <a:solidFill>
                  <a:srgbClr val="7A80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95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5266944"/>
            <a:ext cx="49533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6E7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AIで業務改善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382305" y="3191256"/>
            <a:ext cx="1324051" cy="523951"/>
          </a:xfrm>
          <a:prstGeom prst="roundRect">
            <a:avLst>
              <a:gd name="adj" fmla="val 14485"/>
            </a:avLst>
          </a:prstGeom>
          <a:solidFill>
            <a:srgbClr val="149C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382305" y="3191256"/>
            <a:ext cx="1324051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88900" rIns="215900" bIns="88900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spc="19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950" dirty="0"/>
          </a:p>
        </p:txBody>
      </p:sp>
      <p:pic>
        <p:nvPicPr>
          <p:cNvPr id="12" name="Image 2" descr="gen-dedup-2455daa4f577367c225c7052ee9c4c4a.png">    </p:cNvPr>
          <p:cNvPicPr>
            <a:picLocks noChangeAspect="1"/>
          </p:cNvPicPr>
          <p:nvPr/>
        </p:nvPicPr>
        <p:blipFill>
          <a:blip r:embed="rId3"/>
          <a:srcRect l="-8" r="-8" t="0" b="0"/>
          <a:stretch/>
        </p:blipFill>
        <p:spPr>
          <a:xfrm>
            <a:off x="8382305" y="4515307"/>
            <a:ext cx="2667305" cy="2723998"/>
          </a:xfrm>
          <a:prstGeom prst="rect">
            <a:avLst/>
          </a:prstGeom>
        </p:spPr>
      </p:pic>
      <p:pic>
        <p:nvPicPr>
          <p:cNvPr id="13" name="Image 3" descr="gen-dedup-686d4024fae37553853007ae5cd026a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00846" y="4772254"/>
            <a:ext cx="533095" cy="5330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600846" y="5444338"/>
            <a:ext cx="2229307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Excelが</a:t>
            </a:r>
            <a:pPr algn="l" indent="0" marL="0">
              <a:lnSpc>
                <a:spcPts val="3045"/>
              </a:lnSpc>
              <a:buNone/>
            </a:pPr>
            <a:endParaRPr lang="en-US" sz="2100" dirty="0"/>
          </a:p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9C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限界</a:t>
            </a:r>
            <a:endParaRPr lang="en-US" sz="2100" dirty="0"/>
          </a:p>
        </p:txBody>
      </p:sp>
      <p:pic>
        <p:nvPicPr>
          <p:cNvPr id="15" name="Image 4" descr="gen-dedup-2455daa4f577367c225c7052ee9c4c4a.png">    </p:cNvPr>
          <p:cNvPicPr>
            <a:picLocks noChangeAspect="1"/>
          </p:cNvPicPr>
          <p:nvPr/>
        </p:nvPicPr>
        <p:blipFill>
          <a:blip r:embed="rId5"/>
          <a:srcRect l="-8" r="-8" t="0" b="0"/>
          <a:stretch/>
        </p:blipFill>
        <p:spPr>
          <a:xfrm>
            <a:off x="11239805" y="4515307"/>
            <a:ext cx="2667305" cy="2723998"/>
          </a:xfrm>
          <a:prstGeom prst="rect">
            <a:avLst/>
          </a:prstGeom>
        </p:spPr>
      </p:pic>
      <p:pic>
        <p:nvPicPr>
          <p:cNvPr id="16" name="Image 5" descr="gen-dedup-213b33cdcede3909af27eefcaa9aa57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458346" y="4772254"/>
            <a:ext cx="533095" cy="5330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58346" y="5444338"/>
            <a:ext cx="2229307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同じ入力</a:t>
            </a:r>
            <a:pPr algn="l" indent="0" marL="0">
              <a:lnSpc>
                <a:spcPts val="3045"/>
              </a:lnSpc>
              <a:buNone/>
            </a:pPr>
            <a:endParaRPr lang="en-US" sz="2100" dirty="0"/>
          </a:p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9C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ばかり</a:t>
            </a:r>
            <a:endParaRPr lang="en-US" sz="2100" dirty="0"/>
          </a:p>
        </p:txBody>
      </p:sp>
      <p:pic>
        <p:nvPicPr>
          <p:cNvPr id="18" name="Image 6" descr="gen-dedup-2455daa4f577367c225c7052ee9c4c4a.png">    </p:cNvPr>
          <p:cNvPicPr>
            <a:picLocks noChangeAspect="1"/>
          </p:cNvPicPr>
          <p:nvPr/>
        </p:nvPicPr>
        <p:blipFill>
          <a:blip r:embed="rId7"/>
          <a:srcRect l="-8" r="-8" t="0" b="0"/>
          <a:stretch/>
        </p:blipFill>
        <p:spPr>
          <a:xfrm>
            <a:off x="14097305" y="4515307"/>
            <a:ext cx="2667305" cy="2723998"/>
          </a:xfrm>
          <a:prstGeom prst="rect">
            <a:avLst/>
          </a:prstGeom>
        </p:spPr>
      </p:pic>
      <p:pic>
        <p:nvPicPr>
          <p:cNvPr id="19" name="Image 7" descr="gen-dedup-0929af0e961f8563de038d83574b6fcf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4315846" y="4772254"/>
            <a:ext cx="533095" cy="53309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4315846" y="5444338"/>
            <a:ext cx="2229307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あの人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149C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</a:t>
            </a:r>
            <a:pPr algn="l" indent="0" marL="0">
              <a:lnSpc>
                <a:spcPts val="3045"/>
              </a:lnSpc>
              <a:buNone/>
            </a:pPr>
            <a:endParaRPr lang="en-US" sz="2100" dirty="0"/>
          </a:p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分からない</a:t>
            </a:r>
            <a:endParaRPr lang="en-US" sz="2100" dirty="0"/>
          </a:p>
        </p:txBody>
      </p:sp>
      <p:pic>
        <p:nvPicPr>
          <p:cNvPr id="21" name="Image 8" descr="gen-dedup-0e300795e29c3f415a291e8a49878e75.png">    </p:cNvPr>
          <p:cNvPicPr>
            <a:picLocks noChangeAspect="1"/>
          </p:cNvPicPr>
          <p:nvPr/>
        </p:nvPicPr>
        <p:blipFill>
          <a:blip r:embed="rId9"/>
          <a:srcRect l="0" r="0" t="-27" b="-27"/>
          <a:stretch/>
        </p:blipFill>
        <p:spPr>
          <a:xfrm>
            <a:off x="6819595" y="5191049"/>
            <a:ext cx="1143000" cy="8577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a066055415f74128faa731616c051ae3.png">    </p:cNvPr>
          <p:cNvPicPr>
            <a:picLocks noChangeAspect="1"/>
          </p:cNvPicPr>
          <p:nvPr/>
        </p:nvPicPr>
        <p:blipFill>
          <a:blip r:embed="rId2"/>
          <a:srcRect l="0" r="0" t="-18" b="-18"/>
          <a:stretch/>
        </p:blipFill>
        <p:spPr>
          <a:xfrm>
            <a:off x="5905195" y="3029407"/>
            <a:ext cx="6476695" cy="9528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305" y="4762195"/>
            <a:ext cx="7448702" cy="1923898"/>
          </a:xfrm>
          <a:prstGeom prst="roundRect">
            <a:avLst>
              <a:gd name="adj" fmla="val 6939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9334195" y="4762195"/>
            <a:ext cx="7448702" cy="1923898"/>
          </a:xfrm>
          <a:prstGeom prst="roundRect">
            <a:avLst>
              <a:gd name="adj" fmla="val 6939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7" name="Image 2" descr="gen-dedup-3fc894abf6f8ba57af1de343193ea330.png">    </p:cNvPr>
          <p:cNvPicPr>
            <a:picLocks noChangeAspect="1"/>
          </p:cNvPicPr>
          <p:nvPr/>
        </p:nvPicPr>
        <p:blipFill>
          <a:blip r:embed="rId3"/>
          <a:srcRect l="-408" r="-408" t="0" b="0"/>
          <a:stretch/>
        </p:blipFill>
        <p:spPr>
          <a:xfrm>
            <a:off x="1524305" y="4762195"/>
            <a:ext cx="57607" cy="1904695"/>
          </a:xfrm>
          <a:prstGeom prst="rect">
            <a:avLst/>
          </a:prstGeom>
        </p:spPr>
      </p:pic>
      <p:pic>
        <p:nvPicPr>
          <p:cNvPr id="8" name="Image 3" descr="gen-dedup-3fc894abf6f8ba57af1de343193ea330.png">    </p:cNvPr>
          <p:cNvPicPr>
            <a:picLocks noChangeAspect="1"/>
          </p:cNvPicPr>
          <p:nvPr/>
        </p:nvPicPr>
        <p:blipFill>
          <a:blip r:embed="rId4"/>
          <a:srcRect l="-408" r="-408" t="0" b="0"/>
          <a:stretch/>
        </p:blipFill>
        <p:spPr>
          <a:xfrm>
            <a:off x="9334195" y="4762195"/>
            <a:ext cx="57607" cy="19046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524305" y="1238098"/>
            <a:ext cx="154305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学びは、</a:t>
            </a:r>
            <a:pPr algn="l" indent="0" marL="0">
              <a:buNone/>
            </a:pPr>
            <a:r>
              <a:rPr lang="en-US" sz="570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普段の営業にも</a:t>
            </a:r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2015338" y="3143707"/>
            <a:ext cx="3209544" cy="724205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2015338" y="3143707"/>
            <a:ext cx="3210458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52400" rIns="292100" bIns="15240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spc="90" kern="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BNIでの学びと対話</a:t>
            </a:r>
            <a:endParaRPr lang="en-US" sz="2250" dirty="0"/>
          </a:p>
        </p:txBody>
      </p:sp>
      <p:sp>
        <p:nvSpPr>
          <p:cNvPr id="12" name="Shape 5"/>
          <p:cNvSpPr/>
          <p:nvPr/>
        </p:nvSpPr>
        <p:spPr>
          <a:xfrm>
            <a:off x="13184734" y="3143707"/>
            <a:ext cx="2971800" cy="724205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12700">
            <a:solidFill>
              <a:srgbClr val="E2E5E8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13184734" y="3143707"/>
            <a:ext cx="2971800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52400" rIns="292100" bIns="152400" rtlCol="0" anchor="ctr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spc="90" kern="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普段の商談・提案</a:t>
            </a:r>
            <a:endParaRPr lang="en-US" sz="2250" dirty="0"/>
          </a:p>
        </p:txBody>
      </p:sp>
      <p:sp>
        <p:nvSpPr>
          <p:cNvPr id="14" name="Text 7"/>
          <p:cNvSpPr txBox="1"/>
          <p:nvPr/>
        </p:nvSpPr>
        <p:spPr>
          <a:xfrm>
            <a:off x="1904695" y="5067605"/>
            <a:ext cx="6667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100回超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904695" y="5952744"/>
            <a:ext cx="6667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1to1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715500" y="5067605"/>
            <a:ext cx="6667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昨年比2倍超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9715500" y="5952744"/>
            <a:ext cx="6667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9334195" y="6953098"/>
            <a:ext cx="74295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A61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※BNI以外の仕事を含みます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24305" y="2819095"/>
            <a:ext cx="5943600" cy="2800807"/>
          </a:xfrm>
          <a:prstGeom prst="roundRect">
            <a:avLst>
              <a:gd name="adj" fmla="val 4767"/>
            </a:avLst>
          </a:prstGeom>
          <a:solidFill>
            <a:srgbClr val="FAFBFC"/>
          </a:solidFill>
          <a:ln w="25400">
            <a:solidFill>
              <a:srgbClr val="D8DDE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334195" y="2819095"/>
            <a:ext cx="7467905" cy="2800807"/>
          </a:xfrm>
          <a:prstGeom prst="roundRect">
            <a:avLst>
              <a:gd name="adj" fmla="val 4767"/>
            </a:avLst>
          </a:prstGeom>
          <a:solidFill>
            <a:srgbClr val="FFFFFF"/>
          </a:solidFill>
          <a:ln w="25400">
            <a:solidFill>
              <a:srgbClr val="CF203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524305" y="6590995"/>
            <a:ext cx="8591702" cy="1543507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2E5E8"/>
            </a:solidFill>
            <a:prstDash val="solid"/>
          </a:ln>
        </p:spPr>
      </p:sp>
      <p:pic>
        <p:nvPicPr>
          <p:cNvPr id="7" name="Image 1" descr="gen-dedup-b8ddce4a555ebbbe030943d65012d414.png">    </p:cNvPr>
          <p:cNvPicPr>
            <a:picLocks noChangeAspect="1"/>
          </p:cNvPicPr>
          <p:nvPr/>
        </p:nvPicPr>
        <p:blipFill>
          <a:blip r:embed="rId2"/>
          <a:srcRect l="-390" r="-390" t="0" b="0"/>
          <a:stretch/>
        </p:blipFill>
        <p:spPr>
          <a:xfrm>
            <a:off x="1524305" y="6590995"/>
            <a:ext cx="57607" cy="1524305"/>
          </a:xfrm>
          <a:prstGeom prst="rect">
            <a:avLst/>
          </a:prstGeom>
        </p:spPr>
      </p:pic>
      <p:pic>
        <p:nvPicPr>
          <p:cNvPr id="8" name="Image 2" descr="gen-dedup-51315bbd132aaf419395c06d4512cb71.jpg">    </p:cNvPr>
          <p:cNvPicPr>
            <a:picLocks noChangeAspect="1"/>
          </p:cNvPicPr>
          <p:nvPr/>
        </p:nvPicPr>
        <p:blipFill>
          <a:blip r:embed="rId3"/>
          <a:srcRect l="-31" r="-31" t="0" b="0"/>
          <a:stretch/>
        </p:blipFill>
        <p:spPr>
          <a:xfrm>
            <a:off x="13525805" y="6248095"/>
            <a:ext cx="3238805" cy="24387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524305" y="1000354"/>
            <a:ext cx="154305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誘ってくれた人に、仕事で返せた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1524305" y="2018995"/>
            <a:ext cx="1543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7A80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200社超で、本部業務が限界</a:t>
            </a:r>
            <a:endParaRPr lang="en-US" sz="1200" dirty="0"/>
          </a:p>
        </p:txBody>
      </p:sp>
      <p:pic>
        <p:nvPicPr>
          <p:cNvPr id="11" name="Image 3" descr="gen-dedup-cda6de6a4b1f9a3669f9c7f234e1c453.png">    </p:cNvPr>
          <p:cNvPicPr>
            <a:picLocks noChangeAspect="1"/>
          </p:cNvPicPr>
          <p:nvPr/>
        </p:nvPicPr>
        <p:blipFill>
          <a:blip r:embed="rId4"/>
          <a:srcRect l="0" r="0" t="-262" b="-262"/>
          <a:stretch/>
        </p:blipFill>
        <p:spPr>
          <a:xfrm rot="21420000">
            <a:off x="1867205" y="3105302"/>
            <a:ext cx="1466698" cy="59984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 rot="21420000">
            <a:off x="1867205" y="3105302"/>
            <a:ext cx="1466698" cy="599846"/>
          </a:xfrm>
          <a:prstGeom prst="roundRect">
            <a:avLst>
              <a:gd name="adj" fmla="val 12652"/>
            </a:avLst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 rot="21420000">
            <a:off x="1867205" y="3105302"/>
            <a:ext cx="146761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14300" rIns="215900" bIns="114300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spc="78" kern="0" dirty="0">
                <a:solidFill>
                  <a:srgbClr val="6E7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フォーム</a:t>
            </a:r>
            <a:endParaRPr lang="en-US" sz="1950" dirty="0"/>
          </a:p>
        </p:txBody>
      </p:sp>
      <p:pic>
        <p:nvPicPr>
          <p:cNvPr id="14" name="Image 4" descr="gen-dedup-3cfb27dfb5fbedc718e4f8314fe05f4b.png">    </p:cNvPr>
          <p:cNvPicPr>
            <a:picLocks noChangeAspect="1"/>
          </p:cNvPicPr>
          <p:nvPr/>
        </p:nvPicPr>
        <p:blipFill>
          <a:blip r:embed="rId5"/>
          <a:srcRect l="0" r="0" t="-124" b="-124"/>
          <a:stretch/>
        </p:blipFill>
        <p:spPr>
          <a:xfrm rot="180000">
            <a:off x="4190695" y="3429000"/>
            <a:ext cx="1218895" cy="599846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 rot="180000">
            <a:off x="4190695" y="3429000"/>
            <a:ext cx="1218895" cy="599846"/>
          </a:xfrm>
          <a:prstGeom prst="roundRect">
            <a:avLst>
              <a:gd name="adj" fmla="val 12652"/>
            </a:avLst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 rot="180000">
            <a:off x="4190695" y="3429000"/>
            <a:ext cx="1219810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14300" rIns="215900" bIns="114300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spc="78" kern="0" dirty="0">
                <a:solidFill>
                  <a:srgbClr val="6E7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表計算</a:t>
            </a:r>
            <a:endParaRPr lang="en-US" sz="1950" dirty="0"/>
          </a:p>
        </p:txBody>
      </p:sp>
      <p:pic>
        <p:nvPicPr>
          <p:cNvPr id="17" name="Image 5" descr="gen-dedup-fc1086b892bd6db0a81568507ef8cdec.png">    </p:cNvPr>
          <p:cNvPicPr>
            <a:picLocks noChangeAspect="1"/>
          </p:cNvPicPr>
          <p:nvPr/>
        </p:nvPicPr>
        <p:blipFill>
          <a:blip r:embed="rId6"/>
          <a:srcRect l="0" r="0" t="-174" b="-174"/>
          <a:stretch/>
        </p:blipFill>
        <p:spPr>
          <a:xfrm rot="60000">
            <a:off x="2190902" y="4095598"/>
            <a:ext cx="1476756" cy="59984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 rot="60000">
            <a:off x="2190902" y="4095598"/>
            <a:ext cx="1476756" cy="599846"/>
          </a:xfrm>
          <a:prstGeom prst="roundRect">
            <a:avLst>
              <a:gd name="adj" fmla="val 12652"/>
            </a:avLst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 rot="60000">
            <a:off x="2190902" y="4095598"/>
            <a:ext cx="14767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14300" rIns="215900" bIns="114300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spc="78" kern="0" dirty="0">
                <a:solidFill>
                  <a:srgbClr val="6E7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顧客情報</a:t>
            </a:r>
            <a:endParaRPr lang="en-US" sz="1950" dirty="0"/>
          </a:p>
        </p:txBody>
      </p:sp>
      <p:pic>
        <p:nvPicPr>
          <p:cNvPr id="20" name="Image 6" descr="gen-dedup-fc1086b892bd6db0a81568507ef8cdec.png">    </p:cNvPr>
          <p:cNvPicPr>
            <a:picLocks noChangeAspect="1"/>
          </p:cNvPicPr>
          <p:nvPr/>
        </p:nvPicPr>
        <p:blipFill>
          <a:blip r:embed="rId7"/>
          <a:srcRect l="0" r="0" t="-174" b="-174"/>
          <a:stretch/>
        </p:blipFill>
        <p:spPr>
          <a:xfrm rot="21480000">
            <a:off x="4628693" y="4533595"/>
            <a:ext cx="1476756" cy="599846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 rot="21480000">
            <a:off x="4628693" y="4533595"/>
            <a:ext cx="1476756" cy="599846"/>
          </a:xfrm>
          <a:prstGeom prst="roundRect">
            <a:avLst>
              <a:gd name="adj" fmla="val 12652"/>
            </a:avLst>
          </a:prstGeom>
          <a:noFill/>
          <a:ln w="12700">
            <a:solidFill>
              <a:srgbClr val="D8DDE2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 rot="21480000">
            <a:off x="4628693" y="4533595"/>
            <a:ext cx="14767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14300" rIns="215900" bIns="114300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spc="78" kern="0" dirty="0">
                <a:solidFill>
                  <a:srgbClr val="6E757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紙の控え</a:t>
            </a:r>
            <a:endParaRPr lang="en-US" sz="1950" dirty="0"/>
          </a:p>
        </p:txBody>
      </p:sp>
      <p:sp>
        <p:nvSpPr>
          <p:cNvPr id="23" name="Shape 13"/>
          <p:cNvSpPr/>
          <p:nvPr/>
        </p:nvSpPr>
        <p:spPr>
          <a:xfrm>
            <a:off x="9715500" y="3200400"/>
            <a:ext cx="3247949" cy="599846"/>
          </a:xfrm>
          <a:prstGeom prst="roundRect">
            <a:avLst>
              <a:gd name="adj" fmla="val 12652"/>
            </a:avLst>
          </a:prstGeom>
          <a:solidFill>
            <a:srgbClr val="FFF5F6"/>
          </a:solidFill>
          <a:ln w="12700">
            <a:solidFill>
              <a:srgbClr val="F0C4C9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715500" y="3200400"/>
            <a:ext cx="3248863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14300" rIns="0" bIns="114300" rtlCol="0" anchor="ctr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spc="78" kern="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注文</a:t>
            </a:r>
            <a:endParaRPr lang="en-US" sz="1950" dirty="0"/>
          </a:p>
        </p:txBody>
      </p:sp>
      <p:sp>
        <p:nvSpPr>
          <p:cNvPr id="25" name="Shape 15"/>
          <p:cNvSpPr/>
          <p:nvPr/>
        </p:nvSpPr>
        <p:spPr>
          <a:xfrm>
            <a:off x="13135356" y="3200400"/>
            <a:ext cx="3247949" cy="599846"/>
          </a:xfrm>
          <a:prstGeom prst="roundRect">
            <a:avLst>
              <a:gd name="adj" fmla="val 12652"/>
            </a:avLst>
          </a:prstGeom>
          <a:solidFill>
            <a:srgbClr val="FFF5F6"/>
          </a:solidFill>
          <a:ln w="12700">
            <a:solidFill>
              <a:srgbClr val="F0C4C9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13135356" y="3200400"/>
            <a:ext cx="3248863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14300" rIns="0" bIns="114300" rtlCol="0" anchor="ctr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spc="78" kern="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</a:t>
            </a:r>
            <a:endParaRPr lang="en-US" sz="1950" dirty="0"/>
          </a:p>
        </p:txBody>
      </p:sp>
      <p:sp>
        <p:nvSpPr>
          <p:cNvPr id="27" name="Shape 17"/>
          <p:cNvSpPr/>
          <p:nvPr/>
        </p:nvSpPr>
        <p:spPr>
          <a:xfrm>
            <a:off x="9715500" y="3966667"/>
            <a:ext cx="3247949" cy="599846"/>
          </a:xfrm>
          <a:prstGeom prst="roundRect">
            <a:avLst>
              <a:gd name="adj" fmla="val 12652"/>
            </a:avLst>
          </a:prstGeom>
          <a:solidFill>
            <a:srgbClr val="FFF5F6"/>
          </a:solidFill>
          <a:ln w="12700">
            <a:solidFill>
              <a:srgbClr val="F0C4C9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9715500" y="3966667"/>
            <a:ext cx="3248863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14300" rIns="0" bIns="114300" rtlCol="0" anchor="ctr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spc="78" kern="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取扱店</a:t>
            </a:r>
            <a:endParaRPr lang="en-US" sz="1950" dirty="0"/>
          </a:p>
        </p:txBody>
      </p:sp>
      <p:sp>
        <p:nvSpPr>
          <p:cNvPr id="29" name="Shape 19"/>
          <p:cNvSpPr/>
          <p:nvPr/>
        </p:nvSpPr>
        <p:spPr>
          <a:xfrm>
            <a:off x="13135356" y="3966667"/>
            <a:ext cx="3247949" cy="599846"/>
          </a:xfrm>
          <a:prstGeom prst="roundRect">
            <a:avLst>
              <a:gd name="adj" fmla="val 12652"/>
            </a:avLst>
          </a:prstGeom>
          <a:solidFill>
            <a:srgbClr val="FFF5F6"/>
          </a:solidFill>
          <a:ln w="12700">
            <a:solidFill>
              <a:srgbClr val="F0C4C9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3135356" y="3966667"/>
            <a:ext cx="3248863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14300" rIns="0" bIns="114300" rtlCol="0" anchor="ctr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spc="78" kern="0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</a:t>
            </a:r>
            <a:endParaRPr lang="en-US" sz="1950" dirty="0"/>
          </a:p>
        </p:txBody>
      </p:sp>
      <p:sp>
        <p:nvSpPr>
          <p:cNvPr id="31" name="Text 21"/>
          <p:cNvSpPr txBox="1"/>
          <p:nvPr/>
        </p:nvSpPr>
        <p:spPr>
          <a:xfrm>
            <a:off x="1524305" y="5753405"/>
            <a:ext cx="15240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分散管理 → 一元化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1904695" y="6801307"/>
            <a:ext cx="7810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確認の手間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1904695" y="7220102"/>
            <a:ext cx="7810805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CF203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4分の1以下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1524305" y="8268005"/>
            <a:ext cx="11049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人を増やさず、500社規模へ</a:t>
            </a:r>
            <a:endParaRPr lang="en-US" sz="1200" dirty="0"/>
          </a:p>
        </p:txBody>
      </p:sp>
      <p:pic>
        <p:nvPicPr>
          <p:cNvPr id="35" name="Image 7" descr="gen-dedup-f87aa7c8e9ed364f149dba02b28cd6e9.png">    </p:cNvPr>
          <p:cNvPicPr>
            <a:picLocks noChangeAspect="1"/>
          </p:cNvPicPr>
          <p:nvPr/>
        </p:nvPicPr>
        <p:blipFill>
          <a:blip r:embed="rId8"/>
          <a:srcRect l="-11" r="-11" t="0" b="0"/>
          <a:stretch/>
        </p:blipFill>
        <p:spPr>
          <a:xfrm>
            <a:off x="7810805" y="3866998"/>
            <a:ext cx="1143000" cy="666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53fe3ac19fb888b551188047a429bcc.png">    </p:cNvPr>
          <p:cNvPicPr>
            <a:picLocks noChangeAspect="1"/>
          </p:cNvPicPr>
          <p:nvPr/>
        </p:nvPicPr>
        <p:blipFill>
          <a:blip r:embed="rId1"/>
          <a:srcRect l="-242" r="-242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bb4600ea03f363f900e8596b84a9bb58.jpg">    </p:cNvPr>
          <p:cNvPicPr>
            <a:picLocks noChangeAspect="1"/>
          </p:cNvPicPr>
          <p:nvPr/>
        </p:nvPicPr>
        <p:blipFill>
          <a:blip r:embed="rId2"/>
          <a:srcRect l="-27" r="-27" t="0" b="0"/>
          <a:stretch/>
        </p:blipFill>
        <p:spPr>
          <a:xfrm>
            <a:off x="10477195" y="2619756"/>
            <a:ext cx="6286500" cy="473384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24305" y="1429207"/>
            <a:ext cx="154305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F34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私の5ヶ月のシェアストーリー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524305" y="4762195"/>
            <a:ext cx="8572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7A80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気になることは、メンバーに率直に。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3e9b86e0ada793576f9c648fbed3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0" y="3219602"/>
            <a:ext cx="8229600" cy="13716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0" y="3353105"/>
            <a:ext cx="18288000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75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重点募集カテゴリー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0" y="5219395"/>
            <a:ext cx="18288000" cy="202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25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建設業/動画制作/ SNS運用代行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6525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WEBマーケティング/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2026-08-31T13:31:46Z</dcterms:created>
  <dcterms:modified xsi:type="dcterms:W3CDTF">2026-08-31T13:31:46Z</dcterms:modified>
</cp:coreProperties>
</file>